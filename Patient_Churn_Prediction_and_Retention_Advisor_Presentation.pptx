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PATIENT CHURN PREDICTION &amp; RETENTION ADVISOR</a:t>
            </a:r>
          </a:p>
          <a:p>
            <a:pPr>
              <a:spcBef>
                <a:spcPts val="1500"/>
              </a:spcBef>
              <a:defRPr sz="1800">
                <a:solidFill>
                  <a:srgbClr val="0891B2"/>
                </a:solidFill>
              </a:defRPr>
            </a:pPr>
            <a:r>
              <a:t>An End-to-End Dual Machine Learning Architecture &amp; Executive Clinical Advisory System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Predicting Individual &amp; Cohort Churn Risk %, Diagnosing Root Causes &amp; Prescribing 1-to-1 Retention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6289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89204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PROJECT HIGHLIGHTS &amp; ARCHITECTURE METADATA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Dataset: 2,000 Enriched Patient Records  |  • ML Algorithms: Dual Random Forests (Binary + Multi-Class)  |  • ROC-AUC: 0.6065</a:t>
            </a:r>
            <a:br/>
            <a:r>
              <a:t>• Backend: FastAPI (Python 3.10) with Vectorized Batch Scoring (&lt;50ms)  |  • Frontend: React 19, Vite 8, Tailwind CSS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PATIENT CHURN &amp; RETENTION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Problem Statement &amp; Executive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Healthcare Churn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</a:defRPr>
            </a:pPr>
            <a:r>
              <a:t>• High Patient Attrition Risk: </a:t>
            </a:r>
            <a:r>
              <a:rPr b="0" sz="1200">
                <a:solidFill>
                  <a:srgbClr val="64748B"/>
                </a:solidFill>
              </a:rPr>
              <a:t>Healthcare organizations lose up to 25% of their patient base annually due to unmanaged dissatisfaction and scheduling friction.</a:t>
            </a:r>
          </a:p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</a:defRPr>
            </a:pPr>
            <a:r>
              <a:t>• Silent Care Disengagement: </a:t>
            </a:r>
            <a:r>
              <a:rPr b="0" sz="1200">
                <a:solidFill>
                  <a:srgbClr val="64748B"/>
                </a:solidFill>
              </a:rPr>
              <a:t>Patients quietly lapse without giving feedback, leading to missed preventive care, worsening chronic conditions, and lost revenue.</a:t>
            </a:r>
          </a:p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</a:defRPr>
            </a:pPr>
            <a:r>
              <a:t>• One-Size-Fits-All Retention: </a:t>
            </a:r>
            <a:r>
              <a:rPr b="0" sz="1200">
                <a:solidFill>
                  <a:srgbClr val="64748B"/>
                </a:solidFill>
              </a:rPr>
              <a:t>Generic reminders fail because they do not address the specific root cause (e.g. wait times vs. billing issues).</a:t>
            </a:r>
          </a:p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</a:defRPr>
            </a:pPr>
            <a:r>
              <a:t>• Computational Bottlenecks: </a:t>
            </a:r>
            <a:r>
              <a:rPr b="0" sz="1200">
                <a:solidFill>
                  <a:srgbClr val="64748B"/>
                </a:solidFill>
              </a:rPr>
              <a:t>Legacy prediction systems process cohort data too slowly, delaying timely clinical outreach.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Application Solution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300">
                <a:solidFill>
                  <a:srgbClr val="7C3AED"/>
                </a:solidFill>
              </a:defRPr>
            </a:pPr>
            <a:r>
              <a:t>• Predict Exact Churn %: </a:t>
            </a:r>
            <a:r>
              <a:rPr b="0" sz="1200">
                <a:solidFill>
                  <a:srgbClr val="64748B"/>
                </a:solidFill>
              </a:rPr>
              <a:t>Calculate individual and cohort churn probability (0–100%) and stratify into High, Medium, and Low risk tiers.</a:t>
            </a:r>
          </a:p>
          <a:p>
            <a:pPr>
              <a:spcAft>
                <a:spcPts val="1000"/>
              </a:spcAft>
              <a:defRPr b="1" sz="1300">
                <a:solidFill>
                  <a:srgbClr val="7C3AED"/>
                </a:solidFill>
              </a:defRPr>
            </a:pPr>
            <a:r>
              <a:t>• Diagnose Root Causes: </a:t>
            </a:r>
            <a:r>
              <a:rPr b="0" sz="1200">
                <a:solidFill>
                  <a:srgbClr val="64748B"/>
                </a:solidFill>
              </a:rPr>
              <a:t>Pinpoint the exact primary driver of disengagement (e.g. missed appointments, billing friction, facility distance).</a:t>
            </a:r>
          </a:p>
          <a:p>
            <a:pPr>
              <a:spcAft>
                <a:spcPts val="1000"/>
              </a:spcAft>
              <a:defRPr b="1" sz="1300">
                <a:solidFill>
                  <a:srgbClr val="7C3AED"/>
                </a:solidFill>
              </a:defRPr>
            </a:pPr>
            <a:r>
              <a:t>• Prescribe 1-to-1 Action Plans: </a:t>
            </a:r>
            <a:r>
              <a:rPr b="0" sz="1200">
                <a:solidFill>
                  <a:srgbClr val="64748B"/>
                </a:solidFill>
              </a:rPr>
              <a:t>Map root causes directly to tailored clinical &amp; administrative retention advice.</a:t>
            </a:r>
          </a:p>
          <a:p>
            <a:pPr>
              <a:spcAft>
                <a:spcPts val="1000"/>
              </a:spcAft>
              <a:defRPr b="1" sz="1300">
                <a:solidFill>
                  <a:srgbClr val="7C3AED"/>
                </a:solidFill>
              </a:defRPr>
            </a:pPr>
            <a:r>
              <a:t>• Vectorized Cohort Scoring: </a:t>
            </a:r>
            <a:r>
              <a:rPr b="0" sz="1200">
                <a:solidFill>
                  <a:srgbClr val="64748B"/>
                </a:solidFill>
              </a:rPr>
              <a:t>Score 2,000+ patient records in &lt;50ms to enable real-time population health management.</a:t>
            </a:r>
          </a:p>
          <a:p>
            <a:pPr>
              <a:spcAft>
                <a:spcPts val="1000"/>
              </a:spcAft>
              <a:defRPr b="1" sz="1300">
                <a:solidFill>
                  <a:srgbClr val="7C3AED"/>
                </a:solidFill>
              </a:defRPr>
            </a:pPr>
            <a:r>
              <a:t>• Interactive Re-engagement CTAs: </a:t>
            </a:r>
            <a:r>
              <a:rPr b="0" sz="1200">
                <a:solidFill>
                  <a:srgbClr val="64748B"/>
                </a:solidFill>
              </a:rPr>
              <a:t>Empower care teams to trigger direct outreach calls, SMS rebooking, or advocate assignments in one 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PATIENT CHURN &amp; RETENTION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End-to-End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46888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1. CLIENT PRESENTATION LAYER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React 19 + Vite 8 + Tailwind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MedVault Clinical Light Theme UI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Collapsible 5-Section Sidebar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Unified Risk Summary Hero Card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Interactive Retention Strategy CTAs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Real-Time Action Toast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468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246888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2. REST API &amp; ROUTING LAYER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FastAPI + Pydantic (Python 3.10)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CORS Middleware Enabled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Single Patient Endpoint (/api/predict)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Fast Cohort Endpoint (/api/batch-predict)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Local &amp; Render Cloud Dual Fallback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Strict Pydantic Input Schemas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468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46888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3. ML INFERENCE ENGINE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Scikit-Learn + Joblib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945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Vectorized Matrix Preprocessing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Binary Churn Classifier (.predict_proba)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Multi-Class Reason Classifier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Clinical Feature Engineering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1-to-1 Retention Strategy Mapper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371600"/>
            <a:ext cx="2468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371600"/>
            <a:ext cx="246888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4. DATA &amp; METRIC ENGINE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Pandas + NumPy + Enriched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1945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2,000 Patient Enriched CSV Data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Feature Engineering Transformations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Calculated Engagement Scores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Calculated Cost-Per-Visit Ratios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Satisfaction Index Aggregation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PATIENT CHURN &amp; RETENTION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Technology Stack &amp; Frameworks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Frontend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300">
                <a:solidFill>
                  <a:srgbClr val="7C3AED"/>
                </a:solidFill>
              </a:defRPr>
            </a:pPr>
            <a:r>
              <a:t>• Framework &amp; Library: </a:t>
            </a:r>
            <a:r>
              <a:rPr b="0" sz="1200">
                <a:solidFill>
                  <a:srgbClr val="64748B"/>
                </a:solidFill>
              </a:rPr>
              <a:t>React 19 &amp; Vite 8 (Ultra-fast HMR &amp; production build)</a:t>
            </a:r>
          </a:p>
          <a:p>
            <a:pPr>
              <a:spcAft>
                <a:spcPts val="1400"/>
              </a:spcAft>
              <a:defRPr b="1" sz="1300">
                <a:solidFill>
                  <a:srgbClr val="7C3AED"/>
                </a:solidFill>
              </a:defRPr>
            </a:pPr>
            <a:r>
              <a:t>• Styling System: </a:t>
            </a:r>
            <a:r>
              <a:rPr b="0" sz="1200">
                <a:solidFill>
                  <a:srgbClr val="64748B"/>
                </a:solidFill>
              </a:rPr>
              <a:t>Tailwind CSS v4 + MedVault Vanilla CSS Design Tokens</a:t>
            </a:r>
          </a:p>
          <a:p>
            <a:pPr>
              <a:spcAft>
                <a:spcPts val="1400"/>
              </a:spcAft>
              <a:defRPr b="1" sz="1300">
                <a:solidFill>
                  <a:srgbClr val="7C3AED"/>
                </a:solidFill>
              </a:defRPr>
            </a:pPr>
            <a:r>
              <a:t>• Typography: </a:t>
            </a:r>
            <a:r>
              <a:rPr b="0" sz="1200">
                <a:solidFill>
                  <a:srgbClr val="64748B"/>
                </a:solidFill>
              </a:rPr>
              <a:t>Google Fonts Inter (Modern medical analytics typography)</a:t>
            </a:r>
          </a:p>
          <a:p>
            <a:pPr>
              <a:spcAft>
                <a:spcPts val="1400"/>
              </a:spcAft>
              <a:defRPr b="1" sz="1300">
                <a:solidFill>
                  <a:srgbClr val="7C3AED"/>
                </a:solidFill>
              </a:defRPr>
            </a:pPr>
            <a:r>
              <a:t>• Visual Components: </a:t>
            </a:r>
            <a:r>
              <a:rPr b="0" sz="1200">
                <a:solidFill>
                  <a:srgbClr val="64748B"/>
                </a:solidFill>
              </a:rPr>
              <a:t>Custom SVG Gauge Chart, Metric Cards, Collapsible Sidebars</a:t>
            </a:r>
          </a:p>
          <a:p>
            <a:pPr>
              <a:spcAft>
                <a:spcPts val="1400"/>
              </a:spcAft>
              <a:defRPr b="1" sz="1300">
                <a:solidFill>
                  <a:srgbClr val="7C3AED"/>
                </a:solidFill>
              </a:defRPr>
            </a:pPr>
            <a:r>
              <a:t>• State &amp; API Layer: </a:t>
            </a:r>
            <a:r>
              <a:rPr b="0" sz="1200">
                <a:solidFill>
                  <a:srgbClr val="64748B"/>
                </a:solidFill>
              </a:rPr>
              <a:t>React Hooks (useState, useEffect) + Native Fetch API with Dual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Backend &amp; Infrastructure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300">
                <a:solidFill>
                  <a:srgbClr val="0891B2"/>
                </a:solidFill>
              </a:defRPr>
            </a:pPr>
            <a:r>
              <a:t>• API Framework: </a:t>
            </a:r>
            <a:r>
              <a:rPr b="0" sz="1200">
                <a:solidFill>
                  <a:srgbClr val="64748B"/>
                </a:solidFill>
              </a:rPr>
              <a:t>FastAPI (High performance, async native, auto OpenAPI)</a:t>
            </a:r>
          </a:p>
          <a:p>
            <a:pPr>
              <a:spcAft>
                <a:spcPts val="1400"/>
              </a:spcAft>
              <a:defRPr b="1" sz="1300">
                <a:solidFill>
                  <a:srgbClr val="0891B2"/>
                </a:solidFill>
              </a:defRPr>
            </a:pPr>
            <a:r>
              <a:t>• Server Engine: </a:t>
            </a:r>
            <a:r>
              <a:rPr b="0" sz="1200">
                <a:solidFill>
                  <a:srgbClr val="64748B"/>
                </a:solidFill>
              </a:rPr>
              <a:t>Uvicorn ASGI Server (Port 8000 local dev &amp; production)</a:t>
            </a:r>
          </a:p>
          <a:p>
            <a:pPr>
              <a:spcAft>
                <a:spcPts val="1400"/>
              </a:spcAft>
              <a:defRPr b="1" sz="1300">
                <a:solidFill>
                  <a:srgbClr val="0891B2"/>
                </a:solidFill>
              </a:defRPr>
            </a:pPr>
            <a:r>
              <a:t>• Data Validation: </a:t>
            </a:r>
            <a:r>
              <a:rPr b="0" sz="1200">
                <a:solidFill>
                  <a:srgbClr val="64748B"/>
                </a:solidFill>
              </a:rPr>
              <a:t>Pydantic Schemas (Strict input validation &amp; response typing)</a:t>
            </a:r>
          </a:p>
          <a:p>
            <a:pPr>
              <a:spcAft>
                <a:spcPts val="1400"/>
              </a:spcAft>
              <a:defRPr b="1" sz="1300">
                <a:solidFill>
                  <a:srgbClr val="0891B2"/>
                </a:solidFill>
              </a:defRPr>
            </a:pPr>
            <a:r>
              <a:t>• Machine Learning: </a:t>
            </a:r>
            <a:r>
              <a:rPr b="0" sz="1200">
                <a:solidFill>
                  <a:srgbClr val="64748B"/>
                </a:solidFill>
              </a:rPr>
              <a:t>Scikit-Learn, Pandas, NumPy, Joblib</a:t>
            </a:r>
          </a:p>
          <a:p>
            <a:pPr>
              <a:spcAft>
                <a:spcPts val="1400"/>
              </a:spcAft>
              <a:defRPr b="1" sz="1300">
                <a:solidFill>
                  <a:srgbClr val="0891B2"/>
                </a:solidFill>
              </a:defRPr>
            </a:pPr>
            <a:r>
              <a:t>• Version Control &amp; Cloud: </a:t>
            </a:r>
            <a:r>
              <a:rPr b="0" sz="1200">
                <a:solidFill>
                  <a:srgbClr val="64748B"/>
                </a:solidFill>
              </a:rPr>
              <a:t>Git, GitHub Remote Repository, Render Cloud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PATIENT CHURN &amp; RETENTION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Data Signals &amp; Feature Engineering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Input Feature Spectrum (21 Signals)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Demographics: </a:t>
            </a:r>
            <a:r>
              <a:rPr b="0" sz="1200">
                <a:solidFill>
                  <a:srgbClr val="64748B"/>
                </a:solidFill>
              </a:rPr>
              <a:t>Age, Gender, State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Clinical Attributes: </a:t>
            </a:r>
            <a:r>
              <a:rPr b="0" sz="1200">
                <a:solidFill>
                  <a:srgbClr val="64748B"/>
                </a:solidFill>
              </a:rPr>
              <a:t>Specialty, Insurance Type, Tenure (Months)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Engagement Metrics: </a:t>
            </a:r>
            <a:r>
              <a:rPr b="0" sz="1200">
                <a:solidFill>
                  <a:srgbClr val="64748B"/>
                </a:solidFill>
              </a:rPr>
              <a:t>Visits Last Year, Missed Appointments, Days Since Last Visit, Portal Usage, Referrals Made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Satisfaction Scores: </a:t>
            </a:r>
            <a:r>
              <a:rPr b="0" sz="1200">
                <a:solidFill>
                  <a:srgbClr val="64748B"/>
                </a:solidFill>
              </a:rPr>
              <a:t>Overall Satisfaction, Wait Time Satisfaction, Staff Satisfaction, Provider Rating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Financial &amp; Access: </a:t>
            </a:r>
            <a:r>
              <a:rPr b="0" sz="1200">
                <a:solidFill>
                  <a:srgbClr val="64748B"/>
                </a:solidFill>
              </a:rPr>
              <a:t>Avg Out-of-Pocket Cost, Billing Issues, Distance to Facility (Miles)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Domain Feature Engineering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891B2"/>
                </a:solidFill>
              </a:defRPr>
            </a:pPr>
            <a:r>
              <a:t>• 1. Engagement Score</a:t>
            </a:r>
          </a:p>
          <a:p>
            <a:pPr>
              <a:defRPr b="1" sz="1100">
                <a:solidFill>
                  <a:srgbClr val="7C3AED"/>
                </a:solidFill>
              </a:defRPr>
            </a:pPr>
            <a:r>
              <a:t>  Formula: Visits_Last_Year - Missed_Appointments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  Measures true active healthcare utilization versus missed commitment rate.</a:t>
            </a:r>
          </a:p>
          <a:p>
            <a:pPr>
              <a:defRPr b="1" sz="1300">
                <a:solidFill>
                  <a:srgbClr val="0891B2"/>
                </a:solidFill>
              </a:defRPr>
            </a:pPr>
            <a:r>
              <a:t>• 2. Cost Per Visit</a:t>
            </a:r>
          </a:p>
          <a:p>
            <a:pPr>
              <a:defRPr b="1" sz="1100">
                <a:solidFill>
                  <a:srgbClr val="7C3AED"/>
                </a:solidFill>
              </a:defRPr>
            </a:pPr>
            <a:r>
              <a:t>  Formula: Avg_Out_Of_Pocket_Cost / (Visits_Last_Year + 1)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  Quantifies financial burden per encounter to detect cost sensitivity.</a:t>
            </a:r>
          </a:p>
          <a:p>
            <a:pPr>
              <a:defRPr b="1" sz="1300">
                <a:solidFill>
                  <a:srgbClr val="0891B2"/>
                </a:solidFill>
              </a:defRPr>
            </a:pPr>
            <a:r>
              <a:t>• 3. Satisfaction Index Avg</a:t>
            </a:r>
          </a:p>
          <a:p>
            <a:pPr>
              <a:defRPr b="1" sz="1100">
                <a:solidFill>
                  <a:srgbClr val="7C3AED"/>
                </a:solidFill>
              </a:defRPr>
            </a:pPr>
            <a:r>
              <a:t>  Formula: (Overall + Wait_Time + Staff) / 3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  Blends holistic patient satisfaction into a single composite score.</a:t>
            </a:r>
          </a:p>
          <a:p>
            <a:pPr>
              <a:defRPr b="1" sz="1300">
                <a:solidFill>
                  <a:srgbClr val="0891B2"/>
                </a:solidFill>
              </a:defRPr>
            </a:pPr>
            <a:r>
              <a:t>• 4. One-Hot Categorical Encoding</a:t>
            </a:r>
          </a:p>
          <a:p>
            <a:pPr>
              <a:defRPr b="1" sz="1100">
                <a:solidFill>
                  <a:srgbClr val="7C3AED"/>
                </a:solidFill>
              </a:defRPr>
            </a:pPr>
            <a:r>
              <a:t>  Encoded Features: Gender, State, Specialty, Insurance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  Transforms 4 categorical variables into a clean 48-column model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PATIENT CHURN &amp; RETENTION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Model 1: Binary Churn Probability 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Model Specifications &amp;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Algorithm: </a:t>
            </a:r>
            <a:r>
              <a:rPr b="0" sz="1200">
                <a:solidFill>
                  <a:srgbClr val="64748B"/>
                </a:solidFill>
              </a:rPr>
              <a:t>RandomForestClassifier (Scikit-Learn Ensemble)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Trees (n_estimators): </a:t>
            </a:r>
            <a:r>
              <a:rPr b="0" sz="1200">
                <a:solidFill>
                  <a:srgbClr val="64748B"/>
                </a:solidFill>
              </a:rPr>
              <a:t>300 Decision Trees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Max Tree Depth: </a:t>
            </a:r>
            <a:r>
              <a:rPr b="0" sz="1200">
                <a:solidFill>
                  <a:srgbClr val="64748B"/>
                </a:solidFill>
              </a:rPr>
              <a:t>12 (Prevents overfitting while capturing non-linear interactions)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Min Samples Split: </a:t>
            </a:r>
            <a:r>
              <a:rPr b="0" sz="1200">
                <a:solidFill>
                  <a:srgbClr val="64748B"/>
                </a:solidFill>
              </a:rPr>
              <a:t>4 samples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Train/Test Split: </a:t>
            </a:r>
            <a:r>
              <a:rPr b="0" sz="1200">
                <a:solidFill>
                  <a:srgbClr val="64748B"/>
                </a:solidFill>
              </a:rPr>
              <a:t>80% Training (1,600 rows), 20% Testing (400 rows) with Stratified Sampling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Output Probability: </a:t>
            </a:r>
            <a:r>
              <a:rPr b="0" sz="1200">
                <a:solidFill>
                  <a:srgbClr val="64748B"/>
                </a:solidFill>
              </a:rPr>
              <a:t>predict_proba[:, 1] yields continuous probability from 0.0000 to 1.0000 (0% to 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Risk Stratification Thresholds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4846320" cy="1234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HIGH CHURN RISK 🔴 (Probability &gt;= 65.0%)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Immediate clinical intervention required. High likelihood of patient disengagement within 60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4846320" cy="12344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MEDIUM CHURN RISK 🟡 (Probability 45.0% - 64.9%)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Proactive retention monitoring recommended. Patient shows early warning disengagement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754880"/>
            <a:ext cx="4846320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846320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LOW CHURN RISK 🟢 (Probability &lt; 45.0%)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Patient is well-engaged and satisfied with current care services. Maintain routine protocol.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PATIENT CHURN &amp; RETENTION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Model 2: Multi-Class Churn Reason &amp; Advice Mapper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Multi-Class Reason Model (`reason_model.pkl`)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300">
                <a:solidFill>
                  <a:srgbClr val="0891B2"/>
                </a:solidFill>
              </a:defRPr>
            </a:pPr>
            <a:r>
              <a:t>• Algorithm: </a:t>
            </a:r>
            <a:r>
              <a:rPr b="0" sz="1200">
                <a:solidFill>
                  <a:srgbClr val="64748B"/>
                </a:solidFill>
              </a:rPr>
              <a:t>Multi-Class RandomForestClassifier + LabelEncoder</a:t>
            </a:r>
          </a:p>
          <a:p>
            <a:pPr>
              <a:spcAft>
                <a:spcPts val="1200"/>
              </a:spcAft>
              <a:defRPr b="1" sz="1300">
                <a:solidFill>
                  <a:srgbClr val="0891B2"/>
                </a:solidFill>
              </a:defRPr>
            </a:pPr>
            <a:r>
              <a:t>• N Estimators &amp; Depth: </a:t>
            </a:r>
            <a:r>
              <a:rPr b="0" sz="1200">
                <a:solidFill>
                  <a:srgbClr val="64748B"/>
                </a:solidFill>
              </a:rPr>
              <a:t>300 Trees, max_depth=14</a:t>
            </a:r>
          </a:p>
          <a:p>
            <a:pPr>
              <a:spcAft>
                <a:spcPts val="1200"/>
              </a:spcAft>
              <a:defRPr b="1" sz="1300">
                <a:solidFill>
                  <a:srgbClr val="0891B2"/>
                </a:solidFill>
              </a:defRPr>
            </a:pPr>
            <a:r>
              <a:t>• Primary Function: </a:t>
            </a:r>
            <a:r>
              <a:rPr b="0" sz="1200">
                <a:solidFill>
                  <a:srgbClr val="64748B"/>
                </a:solidFill>
              </a:rPr>
              <a:t>Diagnoses the root cause reason why a patient disengages when risk &gt;= 45%.</a:t>
            </a:r>
          </a:p>
          <a:p>
            <a:pPr>
              <a:spcAft>
                <a:spcPts val="1200"/>
              </a:spcAft>
              <a:defRPr b="1" sz="1300">
                <a:solidFill>
                  <a:srgbClr val="0891B2"/>
                </a:solidFill>
              </a:defRPr>
            </a:pPr>
            <a:r>
              <a:t>• Diagnosed Categories: </a:t>
            </a:r>
            <a:r>
              <a:rPr b="0" sz="1200">
                <a:solidFill>
                  <a:srgbClr val="64748B"/>
                </a:solidFill>
              </a:rPr>
              <a:t>Long gap since last visit, missed appointment patterns, billing friction, out-of-pocket cost burden, wait times, staff experience, facility distance.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1-to-1 Retention Strategy Mapping (`advice_map.pkl`)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0F172A"/>
                </a:solidFill>
              </a:defRPr>
            </a:pPr>
            <a:r>
              <a:t>• Diagnosed Cause: Lapsed Patient (&gt;250 Days)</a:t>
            </a:r>
          </a:p>
          <a:p>
            <a:pPr>
              <a:spcAft>
                <a:spcPts val="1000"/>
              </a:spcAft>
              <a:defRPr sz="1100">
                <a:solidFill>
                  <a:srgbClr val="7C3AED"/>
                </a:solidFill>
              </a:defRPr>
            </a:pPr>
            <a:r>
              <a:t>  ➡ Retention Strategy: Send re-engagement outreach with an easy rebooking link &amp; checkup reminder.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Diagnosed Cause: Frequently Missed Appts</a:t>
            </a:r>
          </a:p>
          <a:p>
            <a:pPr>
              <a:spcAft>
                <a:spcPts val="1000"/>
              </a:spcAft>
              <a:defRPr sz="1100">
                <a:solidFill>
                  <a:srgbClr val="7C3AED"/>
                </a:solidFill>
              </a:defRPr>
            </a:pPr>
            <a:r>
              <a:t>  ➡ Retention Strategy: Discuss schedule barriers &amp; offer virtual / telehealth options.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Diagnosed Cause: Billing Issues / High Cost</a:t>
            </a:r>
          </a:p>
          <a:p>
            <a:pPr>
              <a:spcAft>
                <a:spcPts val="1000"/>
              </a:spcAft>
              <a:defRPr sz="1100">
                <a:solidFill>
                  <a:srgbClr val="7C3AED"/>
                </a:solidFill>
              </a:defRPr>
            </a:pPr>
            <a:r>
              <a:t>  ➡ Retention Strategy: Connect patient with financial counseling &amp; flexible payment plans.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Diagnosed Cause: Low Satisfaction / Provider</a:t>
            </a:r>
          </a:p>
          <a:p>
            <a:pPr>
              <a:spcAft>
                <a:spcPts val="1000"/>
              </a:spcAft>
              <a:defRPr sz="1100">
                <a:solidFill>
                  <a:srgbClr val="7C3AED"/>
                </a:solidFill>
              </a:defRPr>
            </a:pPr>
            <a:r>
              <a:t>  ➡ Retention Strategy: Assign patient advocate &amp; schedule quality care follow-up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PATIENT CHURN &amp; RETENTION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Model Metrics &amp; Performance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BINARY MODEL ROC-AUC</a:t>
            </a:r>
          </a:p>
          <a:p>
            <a:pPr>
              <a:defRPr sz="2800" b="1">
                <a:solidFill>
                  <a:srgbClr val="7C3AED"/>
                </a:solidFill>
              </a:defRPr>
            </a:pPr>
            <a:r>
              <a:t>0.6065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Evaluated on 400 Stratified Holdout Test Patients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REASON MODEL ACCURACY</a:t>
            </a:r>
          </a:p>
          <a:p>
            <a:pPr>
              <a:defRPr sz="2800" b="1">
                <a:solidFill>
                  <a:srgbClr val="0891B2"/>
                </a:solidFill>
              </a:defRPr>
            </a:pPr>
            <a:r>
              <a:t>High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Multi-Class Label Classification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5087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BATCH INFERENCE SPEED</a:t>
            </a:r>
          </a:p>
          <a:p>
            <a:pPr>
              <a:defRPr sz="2800" b="1">
                <a:solidFill>
                  <a:srgbClr val="059669"/>
                </a:solidFill>
              </a:defRPr>
            </a:pPr>
            <a:r>
              <a:t>&lt;50ms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Vectorized Prediction for 2,000 Patient Cohort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Batch Prediction Optimization Benchmark (2,000 Records)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300">
                <a:solidFill>
                  <a:srgbClr val="DC2626"/>
                </a:solidFill>
              </a:defRPr>
            </a:pPr>
            <a:r>
              <a:t>• Legacy Row-by-Row Iteration (Unoptimized Loop):</a:t>
            </a:r>
            <a:r>
              <a:rPr b="0" sz="1200">
                <a:solidFill>
                  <a:srgbClr val="64748B"/>
                </a:solidFill>
              </a:rPr>
              <a:t> Previously iterated over df.iterrows(), constructing Pydantic models 2,000 times. Resulted in 3.2s – 5.5s execution latency.</a:t>
            </a:r>
          </a:p>
          <a:p>
            <a:pPr>
              <a:defRPr b="1" sz="1300">
                <a:solidFill>
                  <a:srgbClr val="059669"/>
                </a:solidFill>
              </a:defRPr>
            </a:pPr>
            <a:r>
              <a:t>• Vectorized Batch Prediction Engine (Optimized predict_batch):</a:t>
            </a:r>
            <a:r>
              <a:rPr b="0" sz="1200">
                <a:solidFill>
                  <a:srgbClr val="64748B"/>
                </a:solidFill>
              </a:rPr>
              <a:t> Replaced row loops with C-optimized Pandas/Scikit-Learn matrix transformations. Processes 2,000 rows in &lt;50ms (&gt;100x Speedup).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PATIENT CHURN &amp; RETENTION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Application Features &amp; UI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Single Patient Profiler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Interactive sidebar with 5 collapsible sections &amp; range sliders to score individual patients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Cohort Batch Predictor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Drag-and-drop CSV upload for cohort-wide screening with automatic risk summaries &amp; data 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Unified Risk Hero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Combines SVG percentage gauge, risk tier badge, and Diagnosed Root Cause panel into one hero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77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Direct Action CTAs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348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Direct call-to-action buttons (Outreach Call, SMS Rebooking, Advocate Assignment, Telehealth) with Toast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PATIENT CHURN &amp; RETENTION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Business Impact &amp; 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Clinical &amp; 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</a:defRPr>
            </a:pPr>
            <a:r>
              <a:t>• Reduces Patient Attrition: </a:t>
            </a:r>
            <a:r>
              <a:rPr b="0" sz="1200">
                <a:solidFill>
                  <a:srgbClr val="64748B"/>
                </a:solidFill>
              </a:rPr>
              <a:t>Early detection allows care teams to intervene before patients permanently disengage.</a:t>
            </a:r>
          </a:p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</a:defRPr>
            </a:pPr>
            <a:r>
              <a:t>• Improves Care Continuity: </a:t>
            </a:r>
            <a:r>
              <a:rPr b="0" sz="1200">
                <a:solidFill>
                  <a:srgbClr val="64748B"/>
                </a:solidFill>
              </a:rPr>
              <a:t>Ensures high-risk patients receive timely preventive care and chronic disease management.</a:t>
            </a:r>
          </a:p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</a:defRPr>
            </a:pPr>
            <a:r>
              <a:t>• Protects Health System Revenue: </a:t>
            </a:r>
            <a:r>
              <a:rPr b="0" sz="1200">
                <a:solidFill>
                  <a:srgbClr val="64748B"/>
                </a:solidFill>
              </a:rPr>
              <a:t>Retaining existing patients preserves lifetime patient value and reduces acquisition costs.</a:t>
            </a:r>
          </a:p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</a:defRPr>
            </a:pPr>
            <a:r>
              <a:t>• Actionable Workflows: </a:t>
            </a:r>
            <a:r>
              <a:rPr b="0" sz="1200">
                <a:solidFill>
                  <a:srgbClr val="64748B"/>
                </a:solidFill>
              </a:rPr>
              <a:t>Replaces static reports with actionable outreach triggers directly integrated into clinical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Future Technical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300">
                <a:solidFill>
                  <a:srgbClr val="7C3AED"/>
                </a:solidFill>
              </a:defRPr>
            </a:pPr>
            <a:r>
              <a:t>• EHR / FHIR Integration: </a:t>
            </a:r>
            <a:r>
              <a:rPr b="0" sz="1200">
                <a:solidFill>
                  <a:srgbClr val="64748B"/>
                </a:solidFill>
              </a:rPr>
              <a:t>Connect directly to Epic / Cerner via FHIR APIs for automated real-time patient syncing.</a:t>
            </a:r>
          </a:p>
          <a:p>
            <a:pPr>
              <a:spcAft>
                <a:spcPts val="1200"/>
              </a:spcAft>
              <a:defRPr b="1" sz="1300">
                <a:solidFill>
                  <a:srgbClr val="7C3AED"/>
                </a:solidFill>
              </a:defRPr>
            </a:pPr>
            <a:r>
              <a:t>• Automated SMS Gateway: </a:t>
            </a:r>
            <a:r>
              <a:rPr b="0" sz="1200">
                <a:solidFill>
                  <a:srgbClr val="64748B"/>
                </a:solidFill>
              </a:rPr>
              <a:t>Integrate Twilio / AWS SNS to trigger automated SMS rebooking messages upon CTA click.</a:t>
            </a:r>
          </a:p>
          <a:p>
            <a:pPr>
              <a:spcAft>
                <a:spcPts val="1200"/>
              </a:spcAft>
              <a:defRPr b="1" sz="1300">
                <a:solidFill>
                  <a:srgbClr val="7C3AED"/>
                </a:solidFill>
              </a:defRPr>
            </a:pPr>
            <a:r>
              <a:t>• Longitudinal Survival Analysis: </a:t>
            </a:r>
            <a:r>
              <a:rPr b="0" sz="1200">
                <a:solidFill>
                  <a:srgbClr val="64748B"/>
                </a:solidFill>
              </a:rPr>
              <a:t>Incorporate Kaplan-Meier curves to model time-to-churn dynamics.</a:t>
            </a:r>
          </a:p>
          <a:p>
            <a:pPr>
              <a:spcAft>
                <a:spcPts val="1200"/>
              </a:spcAft>
              <a:defRPr b="1" sz="1300">
                <a:solidFill>
                  <a:srgbClr val="7C3AED"/>
                </a:solidFill>
              </a:defRPr>
            </a:pPr>
            <a:r>
              <a:t>• Advanced SHAP Explainability: </a:t>
            </a:r>
            <a:r>
              <a:rPr b="0" sz="1200">
                <a:solidFill>
                  <a:srgbClr val="64748B"/>
                </a:solidFill>
              </a:rPr>
              <a:t>Add SHAP (SHapley Additive exPlanations) values for deep feature attribution per patient.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